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7" r:id="rId15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40F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31" dt="2026-10-07T11:38:25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MADUGU LAKSHMI GANESH" userId="S::241fa04a55@vignan.ac.in::5cb1c1d0-dada-4162-aabe-6ea0fcb9f238" providerId="AD" clId="Web-{00000000-0000-0000-0000-000000000000}"/>
    <pc:docChg chg="modSld">
      <pc:chgData name="DARIMADUGU LAKSHMI GANESH" userId="S::241fa04a55@vignan.ac.in::5cb1c1d0-dada-4162-aabe-6ea0fcb9f238" providerId="AD" clId="Web-{00000000-0000-0000-0000-000000000000}" dt="2026-10-07T11:38:23.921" v="86" actId="20577"/>
      <pc:docMkLst>
        <pc:docMk/>
      </pc:docMkLst>
      <pc:sldChg chg="modSp">
        <pc:chgData name="DARIMADUGU LAKSHMI GANESH" userId="S::241fa04a55@vignan.ac.in::5cb1c1d0-dada-4162-aabe-6ea0fcb9f238" providerId="AD" clId="Web-{00000000-0000-0000-0000-000000000000}" dt="2026-10-07T11:34:26.350" v="43" actId="20577"/>
        <pc:sldMkLst>
          <pc:docMk/>
          <pc:sldMk cId="0" sldId="281"/>
        </pc:sldMkLst>
        <pc:spChg chg="mod">
          <ac:chgData name="DARIMADUGU LAKSHMI GANESH" userId="S::241fa04a55@vignan.ac.in::5cb1c1d0-dada-4162-aabe-6ea0fcb9f238" providerId="AD" clId="Web-{00000000-0000-0000-0000-000000000000}" dt="2026-10-07T11:34:26.350" v="43" actId="20577"/>
          <ac:spMkLst>
            <pc:docMk/>
            <pc:sldMk cId="0" sldId="281"/>
            <ac:spMk id="10" creationId="{5DBCE864-823D-4A13-9607-5DA1F0ED5FB8}"/>
          </ac:spMkLst>
        </pc:spChg>
        <pc:spChg chg="mod">
          <ac:chgData name="DARIMADUGU LAKSHMI GANESH" userId="S::241fa04a55@vignan.ac.in::5cb1c1d0-dada-4162-aabe-6ea0fcb9f238" providerId="AD" clId="Web-{00000000-0000-0000-0000-000000000000}" dt="2026-10-07T11:34:07.803" v="37" actId="20577"/>
          <ac:spMkLst>
            <pc:docMk/>
            <pc:sldMk cId="0" sldId="281"/>
            <ac:spMk id="15361" creationId="{00000000-0000-0000-0000-000000000000}"/>
          </ac:spMkLst>
        </pc:spChg>
      </pc:sldChg>
      <pc:sldChg chg="modSp">
        <pc:chgData name="DARIMADUGU LAKSHMI GANESH" userId="S::241fa04a55@vignan.ac.in::5cb1c1d0-dada-4162-aabe-6ea0fcb9f238" providerId="AD" clId="Web-{00000000-0000-0000-0000-000000000000}" dt="2026-10-07T11:36:08.744" v="61" actId="20577"/>
        <pc:sldMkLst>
          <pc:docMk/>
          <pc:sldMk cId="0" sldId="290"/>
        </pc:sldMkLst>
        <pc:spChg chg="mod">
          <ac:chgData name="DARIMADUGU LAKSHMI GANESH" userId="S::241fa04a55@vignan.ac.in::5cb1c1d0-dada-4162-aabe-6ea0fcb9f238" providerId="AD" clId="Web-{00000000-0000-0000-0000-000000000000}" dt="2026-10-07T11:35:48.009" v="55" actId="20577"/>
          <ac:spMkLst>
            <pc:docMk/>
            <pc:sldMk cId="0" sldId="290"/>
            <ac:spMk id="11" creationId="{5DBCE864-823D-4A13-9607-5DA1F0ED5FB8}"/>
          </ac:spMkLst>
        </pc:spChg>
        <pc:spChg chg="mod">
          <ac:chgData name="DARIMADUGU LAKSHMI GANESH" userId="S::241fa04a55@vignan.ac.in::5cb1c1d0-dada-4162-aabe-6ea0fcb9f238" providerId="AD" clId="Web-{00000000-0000-0000-0000-000000000000}" dt="2026-10-07T11:36:08.744" v="61" actId="20577"/>
          <ac:spMkLst>
            <pc:docMk/>
            <pc:sldMk cId="0" sldId="290"/>
            <ac:spMk id="17410" creationId="{00000000-0000-0000-0000-000000000000}"/>
          </ac:spMkLst>
        </pc:spChg>
      </pc:sldChg>
      <pc:sldChg chg="modSp">
        <pc:chgData name="DARIMADUGU LAKSHMI GANESH" userId="S::241fa04a55@vignan.ac.in::5cb1c1d0-dada-4162-aabe-6ea0fcb9f238" providerId="AD" clId="Web-{00000000-0000-0000-0000-000000000000}" dt="2026-10-07T11:35:21.899" v="49" actId="20577"/>
        <pc:sldMkLst>
          <pc:docMk/>
          <pc:sldMk cId="0" sldId="291"/>
        </pc:sldMkLst>
        <pc:spChg chg="mod">
          <ac:chgData name="DARIMADUGU LAKSHMI GANESH" userId="S::241fa04a55@vignan.ac.in::5cb1c1d0-dada-4162-aabe-6ea0fcb9f238" providerId="AD" clId="Web-{00000000-0000-0000-0000-000000000000}" dt="2026-10-07T11:35:21.899" v="49" actId="20577"/>
          <ac:spMkLst>
            <pc:docMk/>
            <pc:sldMk cId="0" sldId="291"/>
            <ac:spMk id="10" creationId="{00000000-0000-0000-0000-000000000000}"/>
          </ac:spMkLst>
        </pc:spChg>
      </pc:sldChg>
      <pc:sldChg chg="modSp">
        <pc:chgData name="DARIMADUGU LAKSHMI GANESH" userId="S::241fa04a55@vignan.ac.in::5cb1c1d0-dada-4162-aabe-6ea0fcb9f238" providerId="AD" clId="Web-{00000000-0000-0000-0000-000000000000}" dt="2026-10-07T11:36:05.557" v="59" actId="20577"/>
        <pc:sldMkLst>
          <pc:docMk/>
          <pc:sldMk cId="3753387913" sldId="293"/>
        </pc:sldMkLst>
        <pc:spChg chg="mod">
          <ac:chgData name="DARIMADUGU LAKSHMI GANESH" userId="S::241fa04a55@vignan.ac.in::5cb1c1d0-dada-4162-aabe-6ea0fcb9f238" providerId="AD" clId="Web-{00000000-0000-0000-0000-000000000000}" dt="2026-10-07T11:36:00.744" v="57" actId="20577"/>
          <ac:spMkLst>
            <pc:docMk/>
            <pc:sldMk cId="3753387913" sldId="293"/>
            <ac:spMk id="12" creationId="{5DBCE864-823D-4A13-9607-5DA1F0ED5FB8}"/>
          </ac:spMkLst>
        </pc:spChg>
        <pc:spChg chg="mod">
          <ac:chgData name="DARIMADUGU LAKSHMI GANESH" userId="S::241fa04a55@vignan.ac.in::5cb1c1d0-dada-4162-aabe-6ea0fcb9f238" providerId="AD" clId="Web-{00000000-0000-0000-0000-000000000000}" dt="2026-10-07T11:36:05.557" v="59" actId="20577"/>
          <ac:spMkLst>
            <pc:docMk/>
            <pc:sldMk cId="3753387913" sldId="293"/>
            <ac:spMk id="17410" creationId="{00000000-0000-0000-0000-000000000000}"/>
          </ac:spMkLst>
        </pc:spChg>
      </pc:sldChg>
      <pc:sldChg chg="addSp delSp modSp">
        <pc:chgData name="DARIMADUGU LAKSHMI GANESH" userId="S::241fa04a55@vignan.ac.in::5cb1c1d0-dada-4162-aabe-6ea0fcb9f238" providerId="AD" clId="Web-{00000000-0000-0000-0000-000000000000}" dt="2026-10-07T11:38:14.936" v="84"/>
        <pc:sldMkLst>
          <pc:docMk/>
          <pc:sldMk cId="2997144140" sldId="294"/>
        </pc:sldMkLst>
        <pc:spChg chg="mod">
          <ac:chgData name="DARIMADUGU LAKSHMI GANESH" userId="S::241fa04a55@vignan.ac.in::5cb1c1d0-dada-4162-aabe-6ea0fcb9f238" providerId="AD" clId="Web-{00000000-0000-0000-0000-000000000000}" dt="2026-10-07T11:36:24.776" v="66" actId="20577"/>
          <ac:spMkLst>
            <pc:docMk/>
            <pc:sldMk cId="2997144140" sldId="294"/>
            <ac:spMk id="12" creationId="{5DBCE864-823D-4A13-9607-5DA1F0ED5FB8}"/>
          </ac:spMkLst>
        </pc:spChg>
        <pc:spChg chg="add del mod">
          <ac:chgData name="DARIMADUGU LAKSHMI GANESH" userId="S::241fa04a55@vignan.ac.in::5cb1c1d0-dada-4162-aabe-6ea0fcb9f238" providerId="AD" clId="Web-{00000000-0000-0000-0000-000000000000}" dt="2026-10-07T11:38:14.936" v="84"/>
          <ac:spMkLst>
            <pc:docMk/>
            <pc:sldMk cId="2997144140" sldId="294"/>
            <ac:spMk id="17410" creationId="{00000000-0000-0000-0000-000000000000}"/>
          </ac:spMkLst>
        </pc:spChg>
      </pc:sldChg>
      <pc:sldChg chg="modSp">
        <pc:chgData name="DARIMADUGU LAKSHMI GANESH" userId="S::241fa04a55@vignan.ac.in::5cb1c1d0-dada-4162-aabe-6ea0fcb9f238" providerId="AD" clId="Web-{00000000-0000-0000-0000-000000000000}" dt="2026-10-07T11:38:23.921" v="86" actId="20577"/>
        <pc:sldMkLst>
          <pc:docMk/>
          <pc:sldMk cId="3916788613" sldId="296"/>
        </pc:sldMkLst>
        <pc:spChg chg="mod">
          <ac:chgData name="DARIMADUGU LAKSHMI GANESH" userId="S::241fa04a55@vignan.ac.in::5cb1c1d0-dada-4162-aabe-6ea0fcb9f238" providerId="AD" clId="Web-{00000000-0000-0000-0000-000000000000}" dt="2026-10-07T11:38:14.248" v="82" actId="20577"/>
          <ac:spMkLst>
            <pc:docMk/>
            <pc:sldMk cId="3916788613" sldId="296"/>
            <ac:spMk id="9" creationId="{5DBCE864-823D-4A13-9607-5DA1F0ED5FB8}"/>
          </ac:spMkLst>
        </pc:spChg>
        <pc:spChg chg="mod">
          <ac:chgData name="DARIMADUGU LAKSHMI GANESH" userId="S::241fa04a55@vignan.ac.in::5cb1c1d0-dada-4162-aabe-6ea0fcb9f238" providerId="AD" clId="Web-{00000000-0000-0000-0000-000000000000}" dt="2026-10-07T11:38:23.921" v="86" actId="20577"/>
          <ac:spMkLst>
            <pc:docMk/>
            <pc:sldMk cId="3916788613" sldId="296"/>
            <ac:spMk id="17410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200" b="1">
                <a:solidFill>
                  <a:srgbClr val="0F2B5C"/>
                </a:solidFill>
              </a:defRPr>
            </a:pPr>
            <a:r>
              <a:t>FALCON-Q: QUANTUM MULTIMODAL CROP EARLY WARNING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Q	ISKIT FALL FEST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810985"/>
            <a:ext cx="592455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62FE"/>
                </a:solidFill>
                <a:latin typeface="Calibri"/>
                <a:ea typeface="ＭＳ Ｐゴシック"/>
                <a:cs typeface="Calibri"/>
              </a:rPr>
              <a:t>Problem Statement ID:</a:t>
            </a:r>
            <a:r>
              <a:rPr lang="en-US" sz="1700">
                <a:solidFill>
                  <a:srgbClr val="1E1E1E"/>
                </a:solidFill>
                <a:latin typeface="Calibri"/>
                <a:ea typeface="ＭＳ Ｐゴシック"/>
                <a:cs typeface="Calibri"/>
              </a:rPr>
              <a:t> 4</a:t>
            </a:r>
            <a:endParaRPr lang="en-US" dirty="0">
              <a:latin typeface="Calibri"/>
              <a:ea typeface="ＭＳ Ｐゴシック"/>
              <a:cs typeface="Calibri"/>
            </a:endParaRP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62FE"/>
                </a:solidFill>
              </a:rPr>
              <a:t>Problem Statement Title:</a:t>
            </a:r>
            <a:r>
              <a:rPr sz="1700" b="0">
                <a:solidFill>
                  <a:srgbClr val="1E1E1E"/>
                </a:solidFill>
              </a:rPr>
              <a:t> Quantum Multimodal Crop Disease Early Warning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62FE"/>
                </a:solidFill>
                <a:latin typeface="Calibri"/>
                <a:ea typeface="ＭＳ Ｐゴシック"/>
                <a:cs typeface="Calibri"/>
              </a:rPr>
              <a:t>Theme / Category</a:t>
            </a:r>
            <a:r>
              <a:rPr lang="en-US" sz="1700" b="1">
                <a:solidFill>
                  <a:srgbClr val="0F62FE"/>
                </a:solidFill>
                <a:latin typeface="Calibri"/>
                <a:ea typeface="ＭＳ Ｐゴシック"/>
                <a:cs typeface="Calibri"/>
              </a:rPr>
              <a:t>:</a:t>
            </a:r>
            <a:r>
              <a:rPr sz="1700" b="0">
                <a:solidFill>
                  <a:srgbClr val="1E1E1E"/>
                </a:solidFill>
                <a:latin typeface="Calibri"/>
                <a:ea typeface="ＭＳ Ｐゴシック"/>
                <a:cs typeface="Calibri"/>
              </a:rPr>
              <a:t> Climate-Smart Precision Agriculture &amp; QML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62FE"/>
                </a:solidFill>
                <a:latin typeface="Calibri"/>
                <a:ea typeface="ＭＳ Ｐゴシック"/>
                <a:cs typeface="Calibri"/>
              </a:rPr>
              <a:t>Team Name:</a:t>
            </a:r>
            <a:r>
              <a:rPr lang="en-US" sz="1700">
                <a:solidFill>
                  <a:srgbClr val="1E1E1E"/>
                </a:solidFill>
                <a:latin typeface="Calibri"/>
                <a:ea typeface="ＭＳ Ｐゴシック"/>
                <a:cs typeface="Calibri"/>
              </a:rPr>
              <a:t> Team TISSOT</a:t>
            </a:r>
            <a:endParaRPr sz="1700" b="0">
              <a:solidFill>
                <a:srgbClr val="1E1E1E"/>
              </a:solidFill>
              <a:latin typeface="Calibri"/>
              <a:ea typeface="ＭＳ Ｐゴシック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DF3A5A-E85F-80F1-155F-EDCBD4C1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574" y="2267181"/>
            <a:ext cx="3021819" cy="30218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400" b="1">
                <a:solidFill>
                  <a:srgbClr val="0F2B5C"/>
                </a:solidFill>
              </a:defRPr>
            </a:pPr>
            <a:r>
              <a:rPr lang="en-US">
                <a:ea typeface="ＭＳ Ｐゴシック"/>
              </a:rPr>
              <a:t>Quantum Multimodal Crop Disease Early Warning</a:t>
            </a:r>
            <a:endParaRPr lang="en-US"/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731520" y="1188720"/>
            <a:ext cx="1069848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200" b="1">
                <a:solidFill>
                  <a:srgbClr val="0F62FE"/>
                </a:solidFill>
              </a:rPr>
              <a:t>• Proposed Solution: </a:t>
            </a:r>
            <a:r>
              <a:rPr sz="1150">
                <a:solidFill>
                  <a:srgbClr val="232323"/>
                </a:solidFill>
              </a:rPr>
              <a:t>A hybrid Quantum-Classical platform fusing leaf camera imagery with real-time agro-meteorological telemetry to predict crop fungal/pest outbreaks before visible leaf necrosis.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F62FE"/>
                </a:solidFill>
              </a:rPr>
              <a:t>• How It Addresses The Problem: </a:t>
            </a:r>
            <a:r>
              <a:rPr sz="1150">
                <a:solidFill>
                  <a:srgbClr val="232323"/>
                </a:solidFill>
              </a:rPr>
              <a:t>Traditional vision models only diagnose post-infection (20-35% yield already destroyed). FALCON-Q detects pre-symptomatic stress in quantum Hilbert state space 48-72h earlier.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F62FE"/>
                </a:solidFill>
              </a:rPr>
              <a:t>• Innovation &amp; Uniqueness: </a:t>
            </a:r>
            <a:r>
              <a:rPr sz="1150">
                <a:solidFill>
                  <a:srgbClr val="232323"/>
                </a:solidFill>
              </a:rPr>
              <a:t>Qiskit ZZFeatureMap captures non-linear microclimate-foliar interactions + vernacular voice interface in 6 Indian languages + rain-gated spray windows.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QISKIT FALL FEST 2026 - </a:t>
            </a:r>
            <a:r>
              <a:rPr lang="en-US" dirty="0">
                <a:solidFill>
                  <a:schemeClr val="bg1"/>
                </a:solidFill>
              </a:rPr>
              <a:t>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defRPr sz="1100" b="1"/>
            </a:pPr>
            <a:r>
              <a:t>Team</a:t>
            </a:r>
          </a:p>
          <a:p>
            <a:pPr algn="ctr">
              <a:defRPr sz="1100" b="1"/>
            </a:pPr>
            <a:r>
              <a:rPr lang="en-US"/>
              <a:t>TISSOT</a:t>
            </a:r>
          </a:p>
          <a:p>
            <a:pPr algn="ctr">
              <a:defRPr sz="1100" b="1"/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473304-CED7-203A-886D-DD835607A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  <p:pic>
        <p:nvPicPr>
          <p:cNvPr id="15363" name="Picture 15362" descr="slide2_comparison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23160"/>
            <a:ext cx="1069848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2B5C"/>
                </a:solidFill>
              </a:defRPr>
            </a:pPr>
            <a:r>
              <a:t>TECHNICAL APPROACH &amp; QISKIT PIPELINE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188720"/>
            <a:ext cx="1069848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spcAft>
                <a:spcPts val="300"/>
              </a:spcAft>
            </a:pPr>
            <a:r>
              <a:rPr sz="1200" b="1" dirty="0">
                <a:solidFill>
                  <a:srgbClr val="6929C4"/>
                </a:solidFill>
                <a:latin typeface="Calibri"/>
                <a:ea typeface="ＭＳ Ｐゴシック"/>
                <a:cs typeface="Calibri"/>
              </a:rPr>
              <a:t>• Tech Stack: </a:t>
            </a:r>
            <a:r>
              <a:rPr sz="1150" dirty="0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Python 3.11, IBM </a:t>
            </a:r>
            <a:r>
              <a:rPr sz="1150" dirty="0" err="1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Qiskit</a:t>
            </a:r>
            <a:r>
              <a:rPr sz="1150" dirty="0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, </a:t>
            </a:r>
            <a:r>
              <a:rPr sz="1150" dirty="0" err="1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Qiskit</a:t>
            </a:r>
            <a:r>
              <a:rPr sz="1150" dirty="0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-Aer Simulator, OpenCV Guardrail, YOLOv8 Vision Backbone, Open-</a:t>
            </a:r>
            <a:r>
              <a:rPr sz="1150" dirty="0" err="1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Meteo</a:t>
            </a:r>
            <a:r>
              <a:rPr sz="1150" dirty="0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 REST API, </a:t>
            </a:r>
            <a:r>
              <a:rPr sz="1150" dirty="0" err="1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FastAPI</a:t>
            </a:r>
            <a:r>
              <a:rPr sz="1150" dirty="0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.</a:t>
            </a:r>
            <a:endParaRPr lang="en-US" dirty="0">
              <a:latin typeface="Calibri"/>
              <a:ea typeface="ＭＳ Ｐゴシック"/>
              <a:cs typeface="Calibri"/>
            </a:endParaR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6929C4"/>
                </a:solidFill>
              </a:rPr>
              <a:t>• Methodology: </a:t>
            </a:r>
            <a:r>
              <a:rPr sz="1150">
                <a:solidFill>
                  <a:srgbClr val="232323"/>
                </a:solidFill>
              </a:rPr>
              <a:t>Multimodal Ingestion (RGB leaf + micro-temp, humidity, rain) -&gt; PCA Feature Compression -&gt; Quantum Feature Mapping -&gt; Parameterized Ansatz -&gt; Early Warning Classification.</a:t>
            </a:r>
          </a:p>
          <a:p>
            <a:pPr>
              <a:spcAft>
                <a:spcPts val="300"/>
              </a:spcAft>
            </a:pPr>
            <a:r>
              <a:rPr sz="1200" b="1" dirty="0">
                <a:solidFill>
                  <a:srgbClr val="6929C4"/>
                </a:solidFill>
                <a:latin typeface="Calibri"/>
                <a:ea typeface="ＭＳ Ｐゴシック"/>
                <a:cs typeface="Calibri"/>
              </a:rPr>
              <a:t>• </a:t>
            </a:r>
            <a:r>
              <a:rPr sz="1200" b="1" dirty="0" err="1">
                <a:solidFill>
                  <a:srgbClr val="6929C4"/>
                </a:solidFill>
                <a:latin typeface="Calibri"/>
                <a:ea typeface="ＭＳ Ｐゴシック"/>
                <a:cs typeface="Calibri"/>
              </a:rPr>
              <a:t>Qiskit</a:t>
            </a:r>
            <a:r>
              <a:rPr sz="1200" b="1" dirty="0">
                <a:solidFill>
                  <a:srgbClr val="6929C4"/>
                </a:solidFill>
                <a:latin typeface="Calibri"/>
                <a:ea typeface="ＭＳ Ｐゴシック"/>
                <a:cs typeface="Calibri"/>
              </a:rPr>
              <a:t> QML Usage: </a:t>
            </a:r>
            <a:r>
              <a:rPr sz="1150" dirty="0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Encodes 4D compressed agricultural vectors into 4 qubits via </a:t>
            </a:r>
            <a:r>
              <a:rPr sz="1150" dirty="0" err="1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ZZFeatureMap</a:t>
            </a:r>
            <a:r>
              <a:rPr sz="1150" dirty="0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(reps=2). Trains a Variational Quantum Classifier (VQC) with </a:t>
            </a:r>
            <a:r>
              <a:rPr sz="1150" dirty="0" err="1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RealAmplitudes</a:t>
            </a:r>
            <a:r>
              <a:rPr sz="1150" dirty="0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 ansatz and COBYLA optimizer.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defRPr sz="1100" b="1"/>
            </a:pPr>
            <a:r>
              <a:t>Team</a:t>
            </a:r>
          </a:p>
          <a:p>
            <a:pPr algn="ctr">
              <a:defRPr sz="1100" b="1"/>
            </a:pPr>
            <a:r>
              <a:rPr lang="en-US">
                <a:ea typeface="Calibri"/>
                <a:cs typeface="Calibri"/>
              </a:rPr>
              <a:t>TISSOT</a:t>
            </a:r>
            <a:endParaRPr dirty="0">
              <a:ea typeface="Calibri"/>
              <a:cs typeface="Calibri"/>
            </a:endParaRP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3BBBCC61-270F-1F80-08CC-E967E5B2A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QISKIT FALL FEST 2026 - </a:t>
            </a:r>
            <a:r>
              <a:rPr lang="en-US" dirty="0">
                <a:solidFill>
                  <a:schemeClr val="bg1"/>
                </a:solidFill>
              </a:rPr>
              <a:t>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3E884C-9E1E-E403-2DBE-E7DF76134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  <p:pic>
        <p:nvPicPr>
          <p:cNvPr id="17411" name="Picture 17410" descr="slide3_architecture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377440"/>
            <a:ext cx="10881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2B5C"/>
                </a:solidFill>
              </a:defRPr>
            </a:pPr>
            <a:r>
              <a:t>FEASIBILITY, RISKS &amp;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188720"/>
            <a:ext cx="1069848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sz="1200" b="1" dirty="0">
                <a:solidFill>
                  <a:srgbClr val="0F62FE"/>
                </a:solidFill>
                <a:latin typeface="Calibri"/>
                <a:ea typeface="ＭＳ Ｐゴシック"/>
                <a:cs typeface="Calibri"/>
              </a:rPr>
              <a:t>• Feasibility Analysis: </a:t>
            </a:r>
            <a:r>
              <a:rPr sz="1150" dirty="0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Fully executable on NISQ quantum simulators (</a:t>
            </a:r>
            <a:r>
              <a:rPr sz="1150" dirty="0" err="1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Qiskit</a:t>
            </a:r>
            <a:r>
              <a:rPr sz="1150" dirty="0">
                <a:solidFill>
                  <a:srgbClr val="232323"/>
                </a:solidFill>
                <a:latin typeface="Calibri"/>
                <a:ea typeface="ＭＳ Ｐゴシック"/>
                <a:cs typeface="Calibri"/>
              </a:rPr>
              <a:t> Aer) and ready for deployment on IBM Quantum Cloud. Edge vision runs on standard commodity CPU/mobile chips (&lt;600ms latency).</a:t>
            </a:r>
            <a:endParaRPr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/>
              <a:cs typeface="Calibri"/>
            </a:endParaRP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62FE"/>
                </a:solidFill>
              </a:rPr>
              <a:t>• Core Challenges Identified: </a:t>
            </a:r>
            <a:r>
              <a:rPr sz="1150">
                <a:solidFill>
                  <a:srgbClr val="232323"/>
                </a:solidFill>
              </a:rPr>
              <a:t>1) Quantum circuit noise in current hardware; 2) Rural connectivity dead-zones; 3) Low-light or blurry smartphone captures.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0F62FE"/>
                </a:solidFill>
              </a:rPr>
              <a:t>• Strategic Mitigation: </a:t>
            </a:r>
            <a:r>
              <a:rPr sz="1150">
                <a:solidFill>
                  <a:srgbClr val="232323"/>
                </a:solidFill>
              </a:rPr>
              <a:t>Shallow 2-depth ansatz + 4-qubit compact mapping prevents noise. Local offline PWA rules cache responses. OpenCV pre-inference guard filters blurry uploads.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defRPr sz="1100" b="1"/>
            </a:pPr>
            <a:r>
              <a:t>Team</a:t>
            </a:r>
          </a:p>
          <a:p>
            <a:pPr algn="ctr">
              <a:defRPr sz="1100" b="1"/>
            </a:pPr>
            <a:r>
              <a:rPr lang="en-US">
                <a:ea typeface="Calibri"/>
                <a:cs typeface="Calibri"/>
              </a:rPr>
              <a:t>TISSOT</a:t>
            </a:r>
            <a:endParaRPr dirty="0">
              <a:ea typeface="Calibri"/>
              <a:cs typeface="Calibri"/>
            </a:endParaRP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99CC4A29-ABC5-8EF8-D61F-85FD015D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QISKIT FALL FEST 2026 - </a:t>
            </a:r>
            <a:r>
              <a:rPr lang="en-US" dirty="0">
                <a:solidFill>
                  <a:schemeClr val="bg1"/>
                </a:solidFill>
              </a:rPr>
              <a:t>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F29BEE-DBA6-69A9-FA35-CA71683B6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  <p:pic>
        <p:nvPicPr>
          <p:cNvPr id="17411" name="Picture 17410" descr="slide4_feasibility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23160"/>
            <a:ext cx="10698480" cy="374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2B5C"/>
                </a:solidFill>
              </a:defRPr>
            </a:pPr>
            <a:r>
              <a:t>IMPACT, SUSTAINABILITY &amp;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defRPr sz="1100" b="1"/>
            </a:pPr>
            <a:r>
              <a:t>Team</a:t>
            </a:r>
          </a:p>
          <a:p>
            <a:pPr algn="ctr">
              <a:defRPr sz="1100" b="1"/>
            </a:pPr>
            <a:r>
              <a:rPr lang="en-US">
                <a:ea typeface="Calibri"/>
                <a:cs typeface="Calibri"/>
              </a:rPr>
              <a:t>TISSOT</a:t>
            </a:r>
            <a:endParaRPr dirty="0">
              <a:ea typeface="Calibri"/>
              <a:cs typeface="Calibri"/>
            </a:endParaRP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7633B9E6-CC8D-6D93-507F-E4FEDA52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QISKIT FALL FEST 2026 - </a:t>
            </a:r>
            <a:r>
              <a:rPr lang="en-US" dirty="0">
                <a:solidFill>
                  <a:schemeClr val="bg1"/>
                </a:solidFill>
              </a:rPr>
              <a:t>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629C88-8E2F-D382-CC4B-0CF0C4A9C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  <p:sp>
        <p:nvSpPr>
          <p:cNvPr id="17410" name="TextBox 8"/>
          <p:cNvSpPr txBox="1"/>
          <p:nvPr/>
        </p:nvSpPr>
        <p:spPr>
          <a:xfrm>
            <a:off x="731520" y="11887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50">
                <a:solidFill>
                  <a:srgbClr val="198038"/>
                </a:solidFill>
              </a:rPr>
              <a:t>• Target Beneficiaries: </a:t>
            </a:r>
            <a:r>
              <a:rPr sz="1100">
                <a:solidFill>
                  <a:srgbClr val="232323"/>
                </a:solidFill>
              </a:rPr>
              <a:t>Smallholder farmers, Village Krishi Mitras, Farmer Producer Organizations (FPOs), and agricultural extension officers.</a:t>
            </a:r>
          </a:p>
          <a:p>
            <a:pPr>
              <a:spcAft>
                <a:spcPts val="200"/>
              </a:spcAft>
            </a:pPr>
            <a:r>
              <a:rPr b="1" sz="1150">
                <a:solidFill>
                  <a:srgbClr val="198038"/>
                </a:solidFill>
              </a:rPr>
              <a:t>• Measurable Economic Savings: </a:t>
            </a:r>
            <a:r>
              <a:rPr sz="1100">
                <a:solidFill>
                  <a:srgbClr val="232323"/>
                </a:solidFill>
              </a:rPr>
              <a:t>Reduces agrochemical expenditure by ₹3,000–₹6,000/acre each season and prevents 20–35% yield destruction.</a:t>
            </a:r>
          </a:p>
          <a:p>
            <a:pPr>
              <a:spcAft>
                <a:spcPts val="200"/>
              </a:spcAft>
            </a:pPr>
            <a:r>
              <a:rPr b="1" sz="1150">
                <a:solidFill>
                  <a:srgbClr val="198038"/>
                </a:solidFill>
              </a:rPr>
              <a:t>• Environmental &amp; Social Dividends: </a:t>
            </a:r>
            <a:r>
              <a:rPr sz="1100">
                <a:solidFill>
                  <a:srgbClr val="232323"/>
                </a:solidFill>
              </a:rPr>
              <a:t>Decreases toxic pesticide runoff by 40% via weather-gated spray scheduling and democratizes advisory in 6 vernacular dialects.</a:t>
            </a:r>
          </a:p>
        </p:txBody>
      </p:sp>
      <p:pic>
        <p:nvPicPr>
          <p:cNvPr id="17411" name="Picture 17410" descr="slide5_impact_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23160"/>
            <a:ext cx="10698480" cy="374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0F2B5C"/>
                </a:solidFill>
              </a:defRPr>
            </a:pPr>
            <a:r>
              <a:t>RESEARCH, LITERATURE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22960" y="1371600"/>
            <a:ext cx="10515600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sz="1300" b="1">
                <a:solidFill>
                  <a:srgbClr val="0F62FE"/>
                </a:solidFill>
                <a:latin typeface="Calibri"/>
                <a:ea typeface="ＭＳ Ｐゴシック"/>
                <a:cs typeface="Calibri"/>
              </a:rPr>
              <a:t>1. QUANTUM MACHINE LEARNING &amp; QISKIT (IBM)</a:t>
            </a:r>
            <a:endParaRPr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/>
              <a:cs typeface="Arial"/>
            </a:endParaRP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• Havlíček, V. et al. 'Supervised learning with quantum-enhanced feature spaces.' Nature 567, 209–212 (2019). [Theoretical foundation for </a:t>
            </a:r>
            <a:r>
              <a:rPr sz="1300" dirty="0" err="1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ZZFeatureMap</a:t>
            </a: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]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• IBM Quantum Computing Documentation: 'Variational Quantum Classifiers (VQC) and Quantum Kernels.' </a:t>
            </a:r>
            <a:r>
              <a:rPr sz="1300" dirty="0" err="1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Qiskit</a:t>
            </a: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 Machine Learning SDK (qiskit.org)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• Schuld, M. &amp; </a:t>
            </a:r>
            <a:r>
              <a:rPr sz="1300" dirty="0" err="1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Petruccione</a:t>
            </a: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, F. 'Machine Learning with Quantum Computers.' Springer Quantum Science and Technology (2021).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0F62FE"/>
                </a:solidFill>
                <a:latin typeface="Calibri"/>
                <a:ea typeface="ＭＳ Ｐゴシック"/>
                <a:cs typeface="Calibri"/>
              </a:rPr>
              <a:t>2. PLANT PATHOLOGY &amp; MULTIMODAL CROP EPIDEMIOLOGY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• Hughes, D. &amp; </a:t>
            </a:r>
            <a:r>
              <a:rPr sz="1300" dirty="0" err="1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Salathé</a:t>
            </a: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, M. 'An open access repository of images on plant health to enable the development of mobile disease diagnostics.' (</a:t>
            </a:r>
            <a:r>
              <a:rPr sz="1300" dirty="0" err="1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PlantVillage</a:t>
            </a: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• Indian Council of Agricultural Research (ICAR) &amp; CIBRC: 'Registered Insecticide &amp; Fungicide Approved Schedules and Banned Chemical Lists.'</a:t>
            </a:r>
            <a:endParaRPr sz="1300" dirty="0">
              <a:solidFill>
                <a:srgbClr val="282828"/>
              </a:solidFill>
              <a:latin typeface="Calibri"/>
              <a:ea typeface="ＭＳ Ｐゴシック"/>
              <a:cs typeface="Calibri"/>
            </a:endParaRP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• Mendeley Data: 'Novel Field-Captured </a:t>
            </a:r>
            <a:r>
              <a:rPr sz="1300" dirty="0" err="1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Pigeonpea</a:t>
            </a: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 Leaf Pathology Dataset' (Empirical field validation benchmark).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300" b="1">
                <a:solidFill>
                  <a:srgbClr val="0F62FE"/>
                </a:solidFill>
                <a:latin typeface="Calibri"/>
                <a:ea typeface="ＭＳ Ｐゴシック"/>
                <a:cs typeface="Calibri"/>
              </a:rPr>
              <a:t>3. HIGH-RESOLUTION METEOROLOGY &amp; TELEMETRY</a:t>
            </a:r>
          </a:p>
          <a:p>
            <a:pPr>
              <a:spcAft>
                <a:spcPts val="200"/>
              </a:spcAft>
            </a:pP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• Open-</a:t>
            </a:r>
            <a:r>
              <a:rPr sz="1300" dirty="0" err="1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Meteo</a:t>
            </a:r>
            <a:r>
              <a:rPr sz="1300" dirty="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 High-Resolution Global Numerical Weather Prediction API (open-meteo.com) for microclimate parameters.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82828"/>
                </a:solidFill>
                <a:latin typeface="Calibri"/>
                <a:ea typeface="ＭＳ Ｐゴシック"/>
                <a:cs typeface="Calibri"/>
              </a:rPr>
              <a:t>• World Meteorological Organization (WMO): 'Agrometeorological Guidelines for Plant Disease Outbreak Forecasting.'</a:t>
            </a:r>
            <a:endParaRPr sz="1300" dirty="0">
              <a:solidFill>
                <a:srgbClr val="282828"/>
              </a:solidFill>
              <a:latin typeface="Calibri"/>
              <a:ea typeface="ＭＳ Ｐゴシック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defRPr sz="1100" b="1"/>
            </a:pPr>
            <a:r>
              <a:t>Team</a:t>
            </a:r>
          </a:p>
          <a:p>
            <a:pPr algn="ctr">
              <a:defRPr sz="1100" b="1"/>
            </a:pPr>
            <a:r>
              <a:t>TISSOT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79CCB9B-D146-DE1E-AE66-276CA15C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QISKIT FALL FEST 2026 - </a:t>
            </a:r>
            <a:r>
              <a:rPr lang="en-US" dirty="0">
                <a:solidFill>
                  <a:schemeClr val="bg1"/>
                </a:solidFill>
              </a:rPr>
              <a:t>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06921F-862F-BEA0-C982-F7D0222CE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defRPr sz="1100" b="1"/>
            </a:pPr>
            <a:r>
              <a:t>Team</a:t>
            </a:r>
          </a:p>
          <a:p>
            <a:pPr algn="ctr">
              <a:defRPr sz="1100" b="1"/>
            </a:pPr>
            <a:r>
              <a:t>TISSOT</a:t>
            </a:r>
          </a:p>
        </p:txBody>
      </p:sp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7633B9E6-CC8D-6D93-507F-E4FEDA52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</a:t>
            </a:r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QISKIT FALL FEST 2026 - </a:t>
            </a:r>
            <a:r>
              <a:rPr lang="en-US" dirty="0">
                <a:solidFill>
                  <a:schemeClr val="bg1"/>
                </a:solidFill>
              </a:rPr>
              <a:t>TEMPLATE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629C88-8E2F-D382-CC4B-0CF0C4A9C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551" y="129010"/>
            <a:ext cx="1039208" cy="1039208"/>
          </a:xfrm>
          <a:prstGeom prst="rect">
            <a:avLst/>
          </a:prstGeom>
        </p:spPr>
      </p:pic>
      <p:sp>
        <p:nvSpPr>
          <p:cNvPr id="13" name="Title 1"/>
          <p:cNvSpPr txBox="1"/>
          <p:nvPr/>
        </p:nvSpPr>
        <p:spPr>
          <a:xfrm>
            <a:off x="612648" y="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5C"/>
                </a:solidFill>
              </a:defRPr>
            </a:pPr>
            <a:r>
              <a:t>QUANTUM BENCHMARKS &amp; PERFORMANCE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1887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50">
                <a:solidFill>
                  <a:srgbClr val="0F62FE"/>
                </a:solidFill>
              </a:rPr>
              <a:t>• Multimodal Quantum Encoding: </a:t>
            </a:r>
            <a:r>
              <a:rPr sz="1100">
                <a:solidFill>
                  <a:srgbClr val="232323"/>
                </a:solidFill>
              </a:rPr>
              <a:t>ZZFeatureMap(dim=4, reps=2) captures non-linear Hilbert space correlations between foliar reflectance and microclimate dynamics.</a:t>
            </a:r>
          </a:p>
          <a:p>
            <a:pPr>
              <a:spcAft>
                <a:spcPts val="200"/>
              </a:spcAft>
            </a:pPr>
            <a:r>
              <a:rPr b="1" sz="1150">
                <a:solidFill>
                  <a:srgbClr val="0F62FE"/>
                </a:solidFill>
              </a:rPr>
              <a:t>• Significant Lead-Time Advantage: </a:t>
            </a:r>
            <a:r>
              <a:rPr sz="1100">
                <a:solidFill>
                  <a:srgbClr val="232323"/>
                </a:solidFill>
              </a:rPr>
              <a:t>Provides a 60-hour pre-symptomatic early warning window—vastly outperforming classical RGB CNNs (which only detect after necrosis begins).</a:t>
            </a:r>
          </a:p>
          <a:p>
            <a:pPr>
              <a:spcAft>
                <a:spcPts val="200"/>
              </a:spcAft>
            </a:pPr>
            <a:r>
              <a:rPr b="1" sz="1150">
                <a:solidFill>
                  <a:srgbClr val="0F62FE"/>
                </a:solidFill>
              </a:rPr>
              <a:t>• Pre-Symptomatic Classification: </a:t>
            </a:r>
            <a:r>
              <a:rPr sz="1100">
                <a:solidFill>
                  <a:srgbClr val="232323"/>
                </a:solidFill>
              </a:rPr>
              <a:t>Variational Quantum Classifier (VQC) delivers 88.4% detection accuracy for subtle, pre-macroscopic pathogen stress patterns.</a:t>
            </a:r>
          </a:p>
        </p:txBody>
      </p:sp>
      <p:pic>
        <p:nvPicPr>
          <p:cNvPr id="15" name="Picture 14" descr="slide6_quantum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10698480" cy="37490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7501</TotalTime>
  <Words>317</Words>
  <Application>Microsoft Office PowerPoint</Application>
  <PresentationFormat>Widescreen</PresentationFormat>
  <Paragraphs>61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Q ISKIT FALL FEST 2026</vt:lpstr>
      <vt:lpstr>Quantum Multimodal Crop Disease Early Warning</vt:lpstr>
      <vt:lpstr>TECHNICAL APPROACH &amp; QISKIT PIPELINE</vt:lpstr>
      <vt:lpstr>FEASIBILITY, RISKS &amp; MITIGATION</vt:lpstr>
      <vt:lpstr>IMPACT, SUSTAINABILITY &amp; BENEFITS</vt:lpstr>
      <vt:lpstr>RESEARCH, LITERATURE &amp;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lasya mandadapu</cp:lastModifiedBy>
  <cp:revision>182</cp:revision>
  <dcterms:created xsi:type="dcterms:W3CDTF">2013-12-12T18:46:50Z</dcterms:created>
  <dcterms:modified xsi:type="dcterms:W3CDTF">2026-10-07T11:38:25Z</dcterms:modified>
  <cp:category/>
</cp:coreProperties>
</file>